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5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113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BEDFE-0F6E-4EFD-BE1F-5690FB525B14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66C62-01FB-4CA1-9CF9-D08710E73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815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6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4B689-FC7D-0DF5-6CEF-BA028D960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A1591-71F1-2CD8-C653-B69D0F9BC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E6AC0-085A-35FB-2F16-AD7F47BC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6C29-FCF2-4844-8114-FE0435D3D5A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602AF-2784-6682-E1E5-5FB8ED1D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E6B41-D765-5C44-1836-F1F43951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3757-D1E9-4CF9-B491-EE9B645B0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05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16ACD-BEEB-33F1-D838-607703828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A5B7F-5EEC-8699-54F1-977E5501B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32796-E394-6826-D3B3-0BC4D6DE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6C29-FCF2-4844-8114-FE0435D3D5A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49574-F8EC-A400-EB2D-DD3EA8200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3D1BB-F683-8E93-CED2-D5864328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3757-D1E9-4CF9-B491-EE9B645B0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7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1C65-CE62-A3DA-7C6B-52946706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A077E-B481-961F-BA4A-946F4C99F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AF5CD-6BC4-8685-C0D4-8876BF77A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6C29-FCF2-4844-8114-FE0435D3D5A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B12C-1FCA-BCED-54C5-C24AA47C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ACB1D-FD3B-6B10-A914-9AB3F9F31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3757-D1E9-4CF9-B491-EE9B645B0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03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10E0B-F2A7-7E17-06AC-57FD89BF3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A8A60-5BD8-2366-F9D2-9606C8F13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B9A91-D06B-6F2E-33E0-D25AEDAF0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92690-082E-8751-10B9-9E96BDE9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6C29-FCF2-4844-8114-FE0435D3D5A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18310-D840-CBC8-DA0C-D9B620426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06A11-5766-0BA3-6F4D-5F263CF8C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3757-D1E9-4CF9-B491-EE9B645B0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269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A566-0821-1EC2-AA0C-5B876F98A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D77FE-0DB9-38D0-894E-3CBA9AFF4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5A790-8833-F12C-F11C-1B78C3B5F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C42D2-72BE-07B3-8F15-897A157CD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955B3-AF6E-B89B-8A03-7A54E12992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295154-A94C-FC17-5135-A85575CFF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6C29-FCF2-4844-8114-FE0435D3D5A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F12DBD-5797-D975-7E68-9EF278842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55217E-C754-8B4B-FA85-24C6AAEE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3757-D1E9-4CF9-B491-EE9B645B0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138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40AE3-AF5D-D784-3C17-7A0401587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AEE95-6C01-65FE-46BC-023BA9085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6C29-FCF2-4844-8114-FE0435D3D5A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DE38E-539D-A70B-D22B-68F9662CB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4ED07-8427-E0F7-B75E-D7B4DB1A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3757-D1E9-4CF9-B491-EE9B645B0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0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1058D0-E7B4-79E1-23AF-E2A769D34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6C29-FCF2-4844-8114-FE0435D3D5A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EB18AD-6648-D411-0507-067ABC44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4BE33-5774-FD1B-6850-6F79C69EA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3757-D1E9-4CF9-B491-EE9B645B0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80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D8AB4-7BE5-27E3-1AA5-7E53A291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A3D95-9716-E005-039D-05DE2A620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CD048-C06E-E1D6-AC8F-5D7468738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3F909-A7FB-7FD7-4406-351C1F76B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6C29-FCF2-4844-8114-FE0435D3D5A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819A6-98D1-5ED8-B2A7-D1F9B1332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A5425-3FC1-B3E7-9A29-EC252724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3757-D1E9-4CF9-B491-EE9B645B0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76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2A0CB-22BE-5238-8C37-03E91367A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556324-BE45-830B-4009-F2FBB5EB1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8A683-8738-E36E-AFE4-D8D9D9DCE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62BA1-4E52-D129-1449-BD373C9F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6C29-FCF2-4844-8114-FE0435D3D5A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D8E61-A881-585B-E933-654906B5D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FE55F-D573-B3B1-E277-7F8932F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3757-D1E9-4CF9-B491-EE9B645B0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19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5DB1-9B17-CFFA-B2E1-F7916EB7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172C9-56EB-0867-043B-746D20B76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ABA24-607F-BE6A-68EB-086214E9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6C29-FCF2-4844-8114-FE0435D3D5A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6B790-CB1F-91D8-EED7-5BA0EACC1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71D2C-F27E-4677-76AD-1A02F11AB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3757-D1E9-4CF9-B491-EE9B645B0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88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D4CB-AB3F-4632-EC90-D6E4F92DA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37274-C886-CE48-F2E9-884937057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F104B-D759-CBEE-E408-C7520309A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6C29-FCF2-4844-8114-FE0435D3D5A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3A89E-337B-ED84-872F-FE587BE1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08B69-9BF9-2640-4374-B57CF5FA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3757-D1E9-4CF9-B491-EE9B645B0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719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91F2A3-B89C-D04D-D9BB-B5BE6D4FC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4EC10-D218-6F2E-74F2-9966FA089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D4754-545C-DEF9-E9B8-8B82CBFD9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796C29-FCF2-4844-8114-FE0435D3D5A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708A-4722-80BD-E7EE-FEF720509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5EBEB-6ED1-E07A-835D-DA1D05238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23757-D1E9-4CF9-B491-EE9B645B0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76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6482F3-02A5-27C4-8271-1334A17BE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810736"/>
              </p:ext>
            </p:extLst>
          </p:nvPr>
        </p:nvGraphicFramePr>
        <p:xfrm>
          <a:off x="180342" y="642090"/>
          <a:ext cx="11831309" cy="5965879"/>
        </p:xfrm>
        <a:graphic>
          <a:graphicData uri="http://schemas.openxmlformats.org/drawingml/2006/table">
            <a:tbl>
              <a:tblPr/>
              <a:tblGrid>
                <a:gridCol w="2161207">
                  <a:extLst>
                    <a:ext uri="{9D8B030D-6E8A-4147-A177-3AD203B41FA5}">
                      <a16:colId xmlns:a16="http://schemas.microsoft.com/office/drawing/2014/main" val="1455035808"/>
                    </a:ext>
                  </a:extLst>
                </a:gridCol>
                <a:gridCol w="1732857">
                  <a:extLst>
                    <a:ext uri="{9D8B030D-6E8A-4147-A177-3AD203B41FA5}">
                      <a16:colId xmlns:a16="http://schemas.microsoft.com/office/drawing/2014/main" val="96366327"/>
                    </a:ext>
                  </a:extLst>
                </a:gridCol>
                <a:gridCol w="1744674">
                  <a:extLst>
                    <a:ext uri="{9D8B030D-6E8A-4147-A177-3AD203B41FA5}">
                      <a16:colId xmlns:a16="http://schemas.microsoft.com/office/drawing/2014/main" val="2637137461"/>
                    </a:ext>
                  </a:extLst>
                </a:gridCol>
                <a:gridCol w="47164">
                  <a:extLst>
                    <a:ext uri="{9D8B030D-6E8A-4147-A177-3AD203B41FA5}">
                      <a16:colId xmlns:a16="http://schemas.microsoft.com/office/drawing/2014/main" val="590195501"/>
                    </a:ext>
                  </a:extLst>
                </a:gridCol>
                <a:gridCol w="3086338">
                  <a:extLst>
                    <a:ext uri="{9D8B030D-6E8A-4147-A177-3AD203B41FA5}">
                      <a16:colId xmlns:a16="http://schemas.microsoft.com/office/drawing/2014/main" val="2624945512"/>
                    </a:ext>
                  </a:extLst>
                </a:gridCol>
                <a:gridCol w="1597731">
                  <a:extLst>
                    <a:ext uri="{9D8B030D-6E8A-4147-A177-3AD203B41FA5}">
                      <a16:colId xmlns:a16="http://schemas.microsoft.com/office/drawing/2014/main" val="1302985928"/>
                    </a:ext>
                  </a:extLst>
                </a:gridCol>
                <a:gridCol w="1461338">
                  <a:extLst>
                    <a:ext uri="{9D8B030D-6E8A-4147-A177-3AD203B41FA5}">
                      <a16:colId xmlns:a16="http://schemas.microsoft.com/office/drawing/2014/main" val="2448296146"/>
                    </a:ext>
                  </a:extLst>
                </a:gridCol>
              </a:tblGrid>
              <a:tr h="5904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Month</a:t>
                      </a:r>
                      <a:endParaRPr lang="en-IN" sz="14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400" b="1" i="0" u="none" strike="noStrike" kern="12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JANUARY-25</a:t>
                      </a:r>
                      <a:endParaRPr lang="en-IN" sz="14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400" b="1" i="0" u="none" strike="noStrike" kern="12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FEBRUARY-25</a:t>
                      </a:r>
                      <a:endParaRPr lang="en-IN" sz="14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4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Month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JANUARY-25</a:t>
                      </a:r>
                      <a:endParaRPr lang="en-IN" sz="14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FEBRUARY-25</a:t>
                      </a:r>
                      <a:endParaRPr lang="en-IN" sz="14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054438"/>
                  </a:ext>
                </a:extLst>
              </a:tr>
              <a:tr h="34111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No. of SEBI Complaints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 Of Confirmation Mails Sent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333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198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915997"/>
                  </a:ext>
                </a:extLst>
              </a:tr>
              <a:tr h="341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No. of Complaints(mail &amp; Telephonic)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Confirmation Mails Not Sent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267535"/>
                  </a:ext>
                </a:extLst>
              </a:tr>
              <a:tr h="1748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Appreciations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28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 Count SMS Sent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323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188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971726"/>
                  </a:ext>
                </a:extLst>
              </a:tr>
              <a:tr h="18098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 No. of Payments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333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202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Delivered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270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181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469566"/>
                  </a:ext>
                </a:extLst>
              </a:tr>
              <a:tr h="18098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 Number Of Clients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162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111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Undelivered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41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283270"/>
                  </a:ext>
                </a:extLst>
              </a:tr>
              <a:tr h="1748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Unique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99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64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Reply Not Done Payment mail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193383"/>
                  </a:ext>
                </a:extLst>
              </a:tr>
              <a:tr h="1748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Non-unique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47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No. of Confirmation Calls Done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432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254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141096"/>
                  </a:ext>
                </a:extLst>
              </a:tr>
              <a:tr h="1748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 Revenue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Payment Call not done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200411"/>
                  </a:ext>
                </a:extLst>
              </a:tr>
              <a:tr h="2399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Current Month Clients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gg(%)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ss(%)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No. of KYC Collected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99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64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253085"/>
                  </a:ext>
                </a:extLst>
              </a:tr>
              <a:tr h="2399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Old Month Clients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dd(%)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gg(%)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NON-KYC Clients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330009"/>
                  </a:ext>
                </a:extLst>
              </a:tr>
              <a:tr h="341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 marketing Amount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685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Refund Clients &amp; Amount For The Month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750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103364"/>
                  </a:ext>
                </a:extLst>
              </a:tr>
              <a:tr h="34111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FB Leads Revenue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60000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92000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Current Month Service Opted Clients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</a:t>
                      </a:r>
                      <a:endParaRPr lang="en-IN" sz="12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endParaRPr lang="en-IN" sz="12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618000"/>
                  </a:ext>
                </a:extLst>
              </a:tr>
              <a:tr h="341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Marketing Cost(amount Spent In 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0.00%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0.00%</a:t>
                      </a:r>
                      <a:endParaRPr lang="en-IN" sz="12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No. of Customers Added In SMS Panel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fr-FR" sz="1200" b="1" i="0" u="none" strike="noStrike" kern="12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fr-FR" sz="1200" b="1" i="0" u="none" strike="noStrike" kern="12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315429"/>
                  </a:ext>
                </a:extLst>
              </a:tr>
              <a:tr h="2399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Grade 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Senior 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48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41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034674"/>
                  </a:ext>
                </a:extLst>
              </a:tr>
              <a:tr h="2399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Grade 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tt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yy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Junior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42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54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913227"/>
                  </a:ext>
                </a:extLst>
              </a:tr>
              <a:tr h="2399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Grade 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hh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yy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Grade 1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066159"/>
                  </a:ext>
                </a:extLst>
              </a:tr>
              <a:tr h="2399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STL Wise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rr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tt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Grade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013231"/>
                  </a:ext>
                </a:extLst>
              </a:tr>
              <a:tr h="2399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CO-Manger wise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802373(11.57%)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tt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Grade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70</a:t>
                      </a:r>
                      <a:endParaRPr lang="en-IN" sz="12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74</a:t>
                      </a:r>
                      <a:endParaRPr lang="en-IN" sz="12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93065"/>
                  </a:ext>
                </a:extLst>
              </a:tr>
              <a:tr h="2659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 Team Size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308698"/>
                  </a:ext>
                </a:extLst>
              </a:tr>
              <a:tr h="2164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Revenue Per Head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77147.65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35372</a:t>
                      </a:r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en-IN" sz="12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en-IN" sz="12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764868"/>
                  </a:ext>
                </a:extLst>
              </a:tr>
              <a:tr h="216441">
                <a:tc gridSpan="2"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en-IN" sz="12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en-IN" sz="1200" b="1" i="0" u="none" strike="noStrike" kern="12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5432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883D530-9A48-209C-606F-6640F22EA215}"/>
              </a:ext>
            </a:extLst>
          </p:cNvPr>
          <p:cNvSpPr txBox="1"/>
          <p:nvPr/>
        </p:nvSpPr>
        <p:spPr>
          <a:xfrm>
            <a:off x="3265712" y="0"/>
            <a:ext cx="566057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</a:t>
            </a:r>
            <a:r>
              <a:rPr lang="en-IN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UMMARY OF THE MONTH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039055-32BD-8044-B1B8-B5875C0D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>
            <a:noAutofit/>
          </a:bodyPr>
          <a:lstStyle/>
          <a:p>
            <a:fld id="{48F63A3B-78C7-47BE-AE5E-E10140E04643}" type="slidenum">
              <a:rPr lang="en-US" sz="1400" b="1" smtClean="0">
                <a:solidFill>
                  <a:schemeClr val="tx1"/>
                </a:solidFill>
              </a:rPr>
              <a:t>1</a:t>
            </a:fld>
            <a:endParaRPr 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247</Words>
  <Application>Microsoft Office PowerPoint</Application>
  <PresentationFormat>Widescreen</PresentationFormat>
  <Paragraphs>138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Verdana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Sales Admin</dc:creator>
  <cp:lastModifiedBy>Sales Admin</cp:lastModifiedBy>
  <cp:revision>2</cp:revision>
  <dcterms:created xsi:type="dcterms:W3CDTF">2025-03-20T09:03:23Z</dcterms:created>
  <dcterms:modified xsi:type="dcterms:W3CDTF">2025-03-20T09:07:03Z</dcterms:modified>
</cp:coreProperties>
</file>